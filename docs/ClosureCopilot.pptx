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4480560"/>
            <a:ext cx="12191695" cy="109728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ClosureCopilot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BFD4F2"/>
                </a:solidFill>
                <a:latin typeface="Segoe UI"/>
              </a:rPr>
              <a:t>A Multi-Agent Backend Closure Copilot for RTL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FB8E0"/>
                </a:solidFill>
                <a:latin typeface="Segoe UI"/>
              </a:rPr>
              <a:t>It decides WHERE each fix belongs — RTL  ·  SDC  ·  UPF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problem: PPA closure doesn't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6519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7606A"/>
                </a:solidFill>
                <a:latin typeface="Segoe UI"/>
              </a:rPr>
              <a:t>ClosureCopilot · Mayuresh Piske · © 2026 Microsoft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46304" cy="146304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Segoe UI"/>
              </a:rPr>
              <a:t>Power, Performance &amp; Area (PPA) closure is the biggest schedule risk in silicon.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9191"/>
            <a:ext cx="146304" cy="146304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96311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Segoe UI"/>
              </a:rPr>
              <a:t>Run backend tools → wait hours → face thousands of lines of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30751"/>
            <a:ext cx="146304" cy="146304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47871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Segoe UI"/>
              </a:rPr>
              <a:t>The bottleneck is judgment, not reading:  is a timing violation a real RTL bug, or a missing constraint?  Is high clock power a hotspot, or unrealized UPF intent?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82312"/>
            <a:ext cx="146304" cy="146304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99431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Segoe UI"/>
              </a:rPr>
              <a:t>That expertise lives only in senior engineers' heads — and doesn't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One copilot · 9 agents · any backend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6519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7606A"/>
                </a:solidFill>
                <a:latin typeface="Segoe UI"/>
              </a:rPr>
              <a:t>ClosureCopilot · Mayuresh Piske · © 2026 Microsoft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170432"/>
            <a:ext cx="938119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895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core idea: Fix-Layer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6519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7606A"/>
                </a:solidFill>
                <a:latin typeface="Segoe UI"/>
              </a:rPr>
              <a:t>ClosureCopilot · Mayuresh Piske · © 2026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Segoe UI"/>
              </a:rPr>
              <a:t>For every issue, it decides WHERE the fix belongs — RTL · SDC · UPF · synthesis-setup.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303520" cy="21945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Segoe UI"/>
              </a:rPr>
              <a:t>Example 1 — fix in SDC (not RTL)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Segoe UI"/>
              </a:rPr>
              <a:t>Config path cfg_reg → status_reg fails setup.</a:t>
            </a:r>
          </a:p>
          <a:p>
            <a:pPr algn="l"/>
            <a:r>
              <a:rPr sz="1500" b="0">
                <a:solidFill>
                  <a:srgbClr val="57606A"/>
                </a:solidFill>
                <a:latin typeface="Segoe UI"/>
              </a:rPr>
              <a:t>Diagnosis: quasi-static, sampled once per write.</a:t>
            </a:r>
          </a:p>
          <a:p>
            <a:pPr algn="l"/>
            <a:r>
              <a:rPr sz="1500" b="1">
                <a:solidFill>
                  <a:srgbClr val="2DA44E"/>
                </a:solidFill>
                <a:latin typeface="Segoe UI"/>
              </a:rPr>
              <a:t>→ set_multicycle_path -setup 2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94560"/>
            <a:ext cx="5303520" cy="21945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957E5"/>
                </a:solidFill>
                <a:latin typeface="Segoe UI"/>
              </a:rPr>
              <a:t>Example 2 — fix in RTL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Segoe UI"/>
              </a:rPr>
              <a:t>Deep combinational cone at alu.sv:210.</a:t>
            </a:r>
          </a:p>
          <a:p>
            <a:pPr algn="l"/>
            <a:r>
              <a:rPr sz="1500" b="0">
                <a:solidFill>
                  <a:srgbClr val="57606A"/>
                </a:solidFill>
                <a:latin typeface="Segoe UI"/>
              </a:rPr>
              <a:t>Diagnosis: genuine logic depth, single cycle.</a:t>
            </a:r>
          </a:p>
          <a:p>
            <a:pPr algn="l"/>
            <a:r>
              <a:rPr sz="1500" b="1">
                <a:solidFill>
                  <a:srgbClr val="2DA44E"/>
                </a:solidFill>
                <a:latin typeface="Segoe UI"/>
              </a:rPr>
              <a:t>→ pipeline the datapath  (timing ✓, area +2%)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Segoe UI"/>
              </a:rPr>
              <a:t>Every fix ships with a corrected, copy-paste snippet + a cross-domain PPA trade-off.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Five capabilities, one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6519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7606A"/>
                </a:solidFill>
                <a:latin typeface="Segoe UI"/>
              </a:rPr>
              <a:t>ClosureCopilot · Mayuresh Piske · © 2026 Microsoft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64592" cy="8686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607040" cy="868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44752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Segoe UI"/>
              </a:rPr>
              <a:t>PPA Analyzer  —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7393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Segoe UI"/>
              </a:rPr>
              <a:t>Ranks issues and routes each fix to RTL / SDC / UPF with a snippet + trade-off.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9152"/>
            <a:ext cx="164592" cy="868680"/>
          </a:xfrm>
          <a:prstGeom prst="roundRect">
            <a:avLst/>
          </a:prstGeom>
          <a:solidFill>
            <a:srgbClr val="895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59152"/>
            <a:ext cx="10607040" cy="868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32304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957E5"/>
                </a:solidFill>
                <a:latin typeface="Segoe UI"/>
              </a:rPr>
              <a:t>Constraint Promotion  —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6148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Segoe UI"/>
              </a:rPr>
              <a:t>Reconciles IP → top constraints; generates corrected top-level SDC.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46704"/>
            <a:ext cx="164592" cy="868680"/>
          </a:xfrm>
          <a:prstGeom prst="roundRect">
            <a:avLst/>
          </a:prstGeom>
          <a:solidFill>
            <a:srgbClr val="C88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346704"/>
            <a:ext cx="10607040" cy="868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419856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C8860A"/>
                </a:solidFill>
                <a:latin typeface="Segoe UI"/>
              </a:rPr>
              <a:t>UPF Signoff  —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490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Segoe UI"/>
              </a:rPr>
              <a:t>Checks isolation, retention &amp; clock-gating intent; emits corrected UPF.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34256"/>
            <a:ext cx="164592" cy="868680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334256"/>
            <a:ext cx="10607040" cy="868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07408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5484D"/>
                </a:solidFill>
                <a:latin typeface="Segoe UI"/>
              </a:rPr>
              <a:t>Regression Detective  —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365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Segoe UI"/>
              </a:rPr>
              <a:t>Compares two runs; finds what regressed and the change behind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21808"/>
            <a:ext cx="164592" cy="868680"/>
          </a:xfrm>
          <a:prstGeom prst="roundRect">
            <a:avLst/>
          </a:prstGeom>
          <a:solidFill>
            <a:srgbClr val="2D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321808"/>
            <a:ext cx="10607040" cy="868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3949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A44E"/>
                </a:solidFill>
                <a:latin typeface="Segoe UI"/>
              </a:rPr>
              <a:t>Formal Equivalence (LEC)  —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724144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Segoe UI"/>
              </a:rPr>
              <a:t>Routes LEC non-equivalence to a Formal-setup fix vs a genuine RTL bug.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Grounded — and always-on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6519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7606A"/>
                </a:solidFill>
                <a:latin typeface="Segoe UI"/>
              </a:rPr>
              <a:t>ClosureCopilot · Mayuresh Piske · © 2026 Microsoft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3108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Segoe UI"/>
              </a:rPr>
              <a:t>Dual-RAG knowledge</a:t>
            </a:r>
          </a:p>
          <a:p>
            <a:pPr algn="l"/>
            <a:r>
              <a:rPr sz="1600" b="1">
                <a:solidFill>
                  <a:srgbClr val="1A1A1A"/>
                </a:solidFill>
                <a:latin typeface="Segoe UI"/>
              </a:rPr>
              <a:t>① Global PPA knowledge</a:t>
            </a:r>
          </a:p>
          <a:p>
            <a:pPr algn="l"/>
            <a:r>
              <a:rPr sz="1400" b="0">
                <a:solidFill>
                  <a:srgbClr val="57606A"/>
                </a:solidFill>
                <a:latin typeface="Segoe UI"/>
              </a:rPr>
              <a:t>Low-power / timing / area methodology, tool-report semantics, fix patterns.</a:t>
            </a:r>
          </a:p>
          <a:p>
            <a:pPr algn="l"/>
            <a:r>
              <a:rPr sz="1600" b="1">
                <a:solidFill>
                  <a:srgbClr val="1A1A1A"/>
                </a:solidFill>
                <a:latin typeface="Segoe UI"/>
              </a:rPr>
              <a:t>② Design Context Memory</a:t>
            </a:r>
          </a:p>
          <a:p>
            <a:pPr algn="l"/>
            <a:r>
              <a:rPr sz="1400" b="0">
                <a:solidFill>
                  <a:srgbClr val="57606A"/>
                </a:solidFill>
                <a:latin typeface="Segoe UI"/>
              </a:rPr>
              <a:t>A persistent memory of YOUR chip — specs, micro-arch, clocking, prior runs.</a:t>
            </a:r>
          </a:p>
          <a:p>
            <a:pPr algn="l"/>
            <a:r>
              <a:rPr sz="1400" b="1">
                <a:solidFill>
                  <a:srgbClr val="2DA44E"/>
                </a:solidFill>
                <a:latin typeface="Segoe UI"/>
              </a:rPr>
              <a:t>→ Feedback reflects your design intent, and improves each iteration.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3108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8957E5"/>
                </a:solidFill>
                <a:latin typeface="Segoe UI"/>
              </a:rPr>
              <a:t>Built to run anywhere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Segoe UI"/>
              </a:rPr>
              <a:t>Python · multi-agent orchestration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Segoe UI"/>
              </a:rPr>
              <a:t>Azure OpenAI for reasoning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Segoe UI"/>
              </a:rPr>
              <a:t>Streamlit product dashboard</a:t>
            </a:r>
          </a:p>
          <a:p>
            <a:pPr algn="l"/>
            <a:r>
              <a:rPr sz="1600" b="1">
                <a:solidFill>
                  <a:srgbClr val="1A1A1A"/>
                </a:solidFill>
                <a:latin typeface="Segoe UI"/>
              </a:rPr>
              <a:t>Deterministic OFFLINE mode</a:t>
            </a:r>
          </a:p>
          <a:p>
            <a:pPr algn="l"/>
            <a:r>
              <a:rPr sz="1400" b="0">
                <a:solidFill>
                  <a:srgbClr val="57606A"/>
                </a:solidFill>
                <a:latin typeface="Segoe UI"/>
              </a:rPr>
              <a:t>Runs reliably with or without credentials — the demo never breaks.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895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473952"/>
            <a:ext cx="65196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7606A"/>
                </a:solidFill>
                <a:latin typeface="Segoe UI"/>
              </a:rPr>
              <a:t>ClosureCopilot · Mayuresh Piske · © 2026 Microsoft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828800"/>
          </a:xfrm>
          <a:prstGeom prst="roundRect">
            <a:avLst/>
          </a:prstGeom>
          <a:solidFill>
            <a:srgbClr val="E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8957E5"/>
                </a:solidFill>
                <a:latin typeface="Segoe UI"/>
              </a:rPr>
              <a:t>Unique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Segoe UI"/>
              </a:rPr>
              <a:t>It combines fix-layer routing + IP→top constraint promotion + run-to-run regression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Segoe UI"/>
              </a:rPr>
              <a:t>attribution for the RTL owner — a combination no existing point tool brings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881360" cy="2377440"/>
          </a:xfrm>
          <a:prstGeom prst="roundRect">
            <a:avLst/>
          </a:prstGeom>
          <a:solidFill>
            <a:srgbClr val="E7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32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A44E"/>
                </a:solidFill>
                <a:latin typeface="Segoe UI"/>
              </a:rPr>
              <a:t>Impact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Segoe UI"/>
              </a:rPr>
              <a:t>Hours of manual, expert-only triage → minutes of ranked, grounded, copy-paste fixes.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Segoe UI"/>
              </a:rPr>
              <a:t>Puts senior-level closure judgment in every RTL designer's hands.</a:t>
            </a:r>
          </a:p>
          <a:p>
            <a:pPr algn="l"/>
            <a:r>
              <a:rPr sz="1700" b="0">
                <a:solidFill>
                  <a:srgbClr val="1A1A1A"/>
                </a:solidFill>
                <a:latin typeface="Segoe UI"/>
              </a:rPr>
              <a:t>Catches unrealized intent and lost constraints before the next costly backend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egoe UI"/>
              </a:rPr>
              <a:t>ClosureCopilot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BFD4F2"/>
                </a:solidFill>
                <a:latin typeface="Segoe UI"/>
              </a:rPr>
              <a:t>Close faster. Fix smarter.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FB8E0"/>
                </a:solidFill>
                <a:latin typeface="Segoe UI"/>
              </a:rPr>
              <a:t>github.com/mayureshpiske19/ClosureCopilot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