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0" y="0"/>
            <a:ext cx="12191695" cy="6858000"/>
          </a:xfrm>
          <a:prstGeom prst="roundRect">
            <a:avLst/>
          </a:prstGeom>
          <a:solidFill>
            <a:srgbClr val="0F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0" y="4480560"/>
            <a:ext cx="12191695" cy="109728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82880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6000" b="1">
                <a:solidFill>
                  <a:srgbClr val="FFFFFF"/>
                </a:solidFill>
                <a:latin typeface="Segoe UI"/>
              </a:rPr>
              <a:t>ClosureCopilot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306324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BFD4F2"/>
                </a:solidFill>
                <a:latin typeface="Segoe UI"/>
              </a:rPr>
              <a:t>A Multi-Agent Backend Closure Copilot for RTL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84048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9FB8E0"/>
                </a:solidFill>
                <a:latin typeface="Segoe UI"/>
              </a:rPr>
              <a:t>It decides WHERE each fix belongs — RTL  ·  SDC  ·  UPF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0" y="0"/>
            <a:ext cx="12191695" cy="1051560"/>
          </a:xfrm>
          <a:prstGeom prst="roundRect">
            <a:avLst/>
          </a:prstGeom>
          <a:solidFill>
            <a:srgbClr val="E54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Segoe UI"/>
              </a:rPr>
              <a:t>The problem: PPA closure doesn't scale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0" y="6473952"/>
            <a:ext cx="6519672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7606A"/>
                </a:solidFill>
                <a:latin typeface="Segoe UI"/>
              </a:rPr>
              <a:t>ClosureCopilot · Mayuresh Piske · © 2026 Microsoft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627632"/>
            <a:ext cx="146304" cy="146304"/>
          </a:xfrm>
          <a:prstGeom prst="roundRect">
            <a:avLst/>
          </a:prstGeom>
          <a:solidFill>
            <a:srgbClr val="E54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444752"/>
            <a:ext cx="104241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0">
                <a:solidFill>
                  <a:srgbClr val="1A1A1A"/>
                </a:solidFill>
                <a:latin typeface="Segoe UI"/>
              </a:rPr>
              <a:t>Power, Performance &amp; Area (PPA) closure is the biggest schedule risk in silicon.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79191"/>
            <a:ext cx="146304" cy="146304"/>
          </a:xfrm>
          <a:prstGeom prst="roundRect">
            <a:avLst/>
          </a:prstGeom>
          <a:solidFill>
            <a:srgbClr val="E54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496311"/>
            <a:ext cx="104241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0">
                <a:solidFill>
                  <a:srgbClr val="1A1A1A"/>
                </a:solidFill>
                <a:latin typeface="Segoe UI"/>
              </a:rPr>
              <a:t>Run backend tools → wait hours → face thousands of lines of reports.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730751"/>
            <a:ext cx="146304" cy="146304"/>
          </a:xfrm>
          <a:prstGeom prst="roundRect">
            <a:avLst/>
          </a:prstGeom>
          <a:solidFill>
            <a:srgbClr val="E54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547871"/>
            <a:ext cx="104241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0">
                <a:solidFill>
                  <a:srgbClr val="1A1A1A"/>
                </a:solidFill>
                <a:latin typeface="Segoe UI"/>
              </a:rPr>
              <a:t>The bottleneck is judgment, not reading:  is a timing violation a real RTL bug, or a missing constraint?  Is high clock power a hotspot, or unrealized UPF intent?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4782312"/>
            <a:ext cx="146304" cy="146304"/>
          </a:xfrm>
          <a:prstGeom prst="roundRect">
            <a:avLst/>
          </a:prstGeom>
          <a:solidFill>
            <a:srgbClr val="E54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4599431"/>
            <a:ext cx="104241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0">
                <a:solidFill>
                  <a:srgbClr val="1A1A1A"/>
                </a:solidFill>
                <a:latin typeface="Segoe UI"/>
              </a:rPr>
              <a:t>That expertise lives only in senior engineers' heads — and doesn't scale.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0" y="0"/>
            <a:ext cx="12191695" cy="1051560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Segoe UI"/>
              </a:rPr>
              <a:t>One copilot · 9 agents · any backend report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0" y="6473952"/>
            <a:ext cx="6519672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7606A"/>
                </a:solidFill>
                <a:latin typeface="Segoe UI"/>
              </a:rPr>
              <a:t>ClosureCopilot · Mayuresh Piske · © 2026 Microsoft</a:t>
            </a:r>
          </a:p>
        </p:txBody>
      </p:sp>
      <p:pic>
        <p:nvPicPr>
          <p:cNvPr id="6" name="Picture 5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8840" y="1170432"/>
            <a:ext cx="7048091" cy="52578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0" y="0"/>
            <a:ext cx="12191695" cy="1051560"/>
          </a:xfrm>
          <a:prstGeom prst="roundRect">
            <a:avLst/>
          </a:prstGeom>
          <a:solidFill>
            <a:srgbClr val="895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Segoe UI"/>
              </a:rPr>
              <a:t>The core idea: Fix-Layer Routing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0" y="6473952"/>
            <a:ext cx="6519672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7606A"/>
                </a:solidFill>
                <a:latin typeface="Segoe UI"/>
              </a:rPr>
              <a:t>ClosureCopilot · Mayuresh Piske · © 2026 Microsoft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28016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1A1A1A"/>
                </a:solidFill>
                <a:latin typeface="Segoe UI"/>
              </a:rPr>
              <a:t>For every issue, it decides WHERE the fix belongs — RTL · SDC · UPF · synthesis-setup.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194560"/>
            <a:ext cx="5303520" cy="2194560"/>
          </a:xfrm>
          <a:prstGeom prst="round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377440"/>
            <a:ext cx="4846320" cy="1920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1F6FEB"/>
                </a:solidFill>
                <a:latin typeface="Segoe UI"/>
              </a:rPr>
              <a:t>Example 1 — fix in SDC (not RTL)</a:t>
            </a:r>
          </a:p>
          <a:p>
            <a:pPr algn="l"/>
            <a:r>
              <a:rPr sz="1500" b="0">
                <a:solidFill>
                  <a:srgbClr val="1A1A1A"/>
                </a:solidFill>
                <a:latin typeface="Segoe UI"/>
              </a:rPr>
              <a:t>Config path cfg_reg → status_reg fails setup.</a:t>
            </a:r>
          </a:p>
          <a:p>
            <a:pPr algn="l"/>
            <a:r>
              <a:rPr sz="1500" b="0">
                <a:solidFill>
                  <a:srgbClr val="57606A"/>
                </a:solidFill>
                <a:latin typeface="Segoe UI"/>
              </a:rPr>
              <a:t>Diagnosis: quasi-static, sampled once per write.</a:t>
            </a:r>
          </a:p>
          <a:p>
            <a:pPr algn="l"/>
            <a:r>
              <a:rPr sz="1500" b="1">
                <a:solidFill>
                  <a:srgbClr val="2DA44E"/>
                </a:solidFill>
                <a:latin typeface="Segoe UI"/>
              </a:rPr>
              <a:t>→ set_multicycle_path -setup 2 …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2194560"/>
            <a:ext cx="5303520" cy="2194560"/>
          </a:xfrm>
          <a:prstGeom prst="round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2377440"/>
            <a:ext cx="4846320" cy="1920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8957E5"/>
                </a:solidFill>
                <a:latin typeface="Segoe UI"/>
              </a:rPr>
              <a:t>Example 2 — fix in RTL</a:t>
            </a:r>
          </a:p>
          <a:p>
            <a:pPr algn="l"/>
            <a:r>
              <a:rPr sz="1500" b="0">
                <a:solidFill>
                  <a:srgbClr val="1A1A1A"/>
                </a:solidFill>
                <a:latin typeface="Segoe UI"/>
              </a:rPr>
              <a:t>Deep combinational cone at alu.sv:210.</a:t>
            </a:r>
          </a:p>
          <a:p>
            <a:pPr algn="l"/>
            <a:r>
              <a:rPr sz="1500" b="0">
                <a:solidFill>
                  <a:srgbClr val="57606A"/>
                </a:solidFill>
                <a:latin typeface="Segoe UI"/>
              </a:rPr>
              <a:t>Diagnosis: genuine logic depth, single cycle.</a:t>
            </a:r>
          </a:p>
          <a:p>
            <a:pPr algn="l"/>
            <a:r>
              <a:rPr sz="1500" b="1">
                <a:solidFill>
                  <a:srgbClr val="2DA44E"/>
                </a:solidFill>
                <a:latin typeface="Segoe UI"/>
              </a:rPr>
              <a:t>→ pipeline the datapath  (timing ✓, area +2%)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75488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1A1A1A"/>
                </a:solidFill>
                <a:latin typeface="Segoe UI"/>
              </a:rPr>
              <a:t>Every fix ships with a corrected, copy-paste snippet + a cross-domain PPA trade-off.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0" y="0"/>
            <a:ext cx="12191695" cy="1051560"/>
          </a:xfrm>
          <a:prstGeom prst="roundRect">
            <a:avLst/>
          </a:prstGeom>
          <a:solidFill>
            <a:srgbClr val="2DA4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Segoe UI"/>
              </a:rPr>
              <a:t>Five modules, one dashboard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0" y="6473952"/>
            <a:ext cx="6519672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7606A"/>
                </a:solidFill>
                <a:latin typeface="Segoe UI"/>
              </a:rPr>
              <a:t>ClosureCopilot · Mayuresh Piske · © 2026 Microsoft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371600"/>
            <a:ext cx="164592" cy="868680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14400" y="1371600"/>
            <a:ext cx="10607040" cy="868680"/>
          </a:xfrm>
          <a:prstGeom prst="round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1444752"/>
            <a:ext cx="1024128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1F6FEB"/>
                </a:solidFill>
                <a:latin typeface="Segoe UI"/>
              </a:rPr>
              <a:t>PPA Analyzer  —  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773936"/>
            <a:ext cx="10241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0">
                <a:solidFill>
                  <a:srgbClr val="1A1A1A"/>
                </a:solidFill>
                <a:latin typeface="Segoe UI"/>
              </a:rPr>
              <a:t>Ranks issues and routes each fix to RTL / SDC / UPF with a snippet + trade-off.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359152"/>
            <a:ext cx="164592" cy="868680"/>
          </a:xfrm>
          <a:prstGeom prst="roundRect">
            <a:avLst/>
          </a:prstGeom>
          <a:solidFill>
            <a:srgbClr val="895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14400" y="2359152"/>
            <a:ext cx="10607040" cy="868680"/>
          </a:xfrm>
          <a:prstGeom prst="round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2432304"/>
            <a:ext cx="1024128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8957E5"/>
                </a:solidFill>
                <a:latin typeface="Segoe UI"/>
              </a:rPr>
              <a:t>Constraint Promotion  —  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2761488"/>
            <a:ext cx="10241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0">
                <a:solidFill>
                  <a:srgbClr val="1A1A1A"/>
                </a:solidFill>
                <a:latin typeface="Segoe UI"/>
              </a:rPr>
              <a:t>Reconciles IP → top constraints; generates corrected top-level SDC.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346704"/>
            <a:ext cx="164592" cy="868680"/>
          </a:xfrm>
          <a:prstGeom prst="roundRect">
            <a:avLst/>
          </a:prstGeom>
          <a:solidFill>
            <a:srgbClr val="C886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914400" y="3346704"/>
            <a:ext cx="10607040" cy="868680"/>
          </a:xfrm>
          <a:prstGeom prst="round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43000" y="3419856"/>
            <a:ext cx="1024128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C8860A"/>
                </a:solidFill>
                <a:latin typeface="Segoe UI"/>
              </a:rPr>
              <a:t>UPF Signoff  —  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3749040"/>
            <a:ext cx="10241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0">
                <a:solidFill>
                  <a:srgbClr val="1A1A1A"/>
                </a:solidFill>
                <a:latin typeface="Segoe UI"/>
              </a:rPr>
              <a:t>Checks isolation, retention &amp; clock-gating intent; emits corrected UPF.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334256"/>
            <a:ext cx="164592" cy="868680"/>
          </a:xfrm>
          <a:prstGeom prst="roundRect">
            <a:avLst/>
          </a:prstGeom>
          <a:solidFill>
            <a:srgbClr val="E54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14400" y="4334256"/>
            <a:ext cx="10607040" cy="868680"/>
          </a:xfrm>
          <a:prstGeom prst="round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43000" y="4407408"/>
            <a:ext cx="1024128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E5484D"/>
                </a:solidFill>
                <a:latin typeface="Segoe UI"/>
              </a:rPr>
              <a:t>Regression Detective  —  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43000" y="4736592"/>
            <a:ext cx="10241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0">
                <a:solidFill>
                  <a:srgbClr val="1A1A1A"/>
                </a:solidFill>
                <a:latin typeface="Segoe UI"/>
              </a:rPr>
              <a:t>Compares two runs; finds what regressed and the change behind it.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5321808"/>
            <a:ext cx="164592" cy="868680"/>
          </a:xfrm>
          <a:prstGeom prst="roundRect">
            <a:avLst/>
          </a:prstGeom>
          <a:solidFill>
            <a:srgbClr val="2DA4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14400" y="5321808"/>
            <a:ext cx="10607040" cy="868680"/>
          </a:xfrm>
          <a:prstGeom prst="round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43000" y="5394960"/>
            <a:ext cx="1024128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2DA44E"/>
                </a:solidFill>
                <a:latin typeface="Segoe UI"/>
              </a:rPr>
              <a:t>Physical-Aware Feedback  —  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43000" y="5724144"/>
            <a:ext cx="10241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0">
                <a:solidFill>
                  <a:srgbClr val="1A1A1A"/>
                </a:solidFill>
                <a:latin typeface="Segoe UI"/>
              </a:rPr>
              <a:t>Turns P&amp;R congestion into concrete RTL restructuring hints.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0" y="0"/>
            <a:ext cx="12191695" cy="1051560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Segoe UI"/>
              </a:rPr>
              <a:t>Grounded — and always-on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0" y="6473952"/>
            <a:ext cx="6519672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7606A"/>
                </a:solidFill>
                <a:latin typeface="Segoe UI"/>
              </a:rPr>
              <a:t>ClosureCopilot · Mayuresh Piske · © 2026 Microsoft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371600"/>
            <a:ext cx="5394960" cy="3108960"/>
          </a:xfrm>
          <a:prstGeom prst="round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554480"/>
            <a:ext cx="4937760" cy="2834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1F6FEB"/>
                </a:solidFill>
                <a:latin typeface="Segoe UI"/>
              </a:rPr>
              <a:t>Dual-RAG knowledge</a:t>
            </a:r>
          </a:p>
          <a:p>
            <a:pPr algn="l"/>
            <a:r>
              <a:rPr sz="1600" b="1">
                <a:solidFill>
                  <a:srgbClr val="1A1A1A"/>
                </a:solidFill>
                <a:latin typeface="Segoe UI"/>
              </a:rPr>
              <a:t>① Global PPA knowledge</a:t>
            </a:r>
          </a:p>
          <a:p>
            <a:pPr algn="l"/>
            <a:r>
              <a:rPr sz="1400" b="0">
                <a:solidFill>
                  <a:srgbClr val="57606A"/>
                </a:solidFill>
                <a:latin typeface="Segoe UI"/>
              </a:rPr>
              <a:t>Low-power / timing / area methodology, tool-report semantics, fix patterns.</a:t>
            </a:r>
          </a:p>
          <a:p>
            <a:pPr algn="l"/>
            <a:r>
              <a:rPr sz="1600" b="1">
                <a:solidFill>
                  <a:srgbClr val="1A1A1A"/>
                </a:solidFill>
                <a:latin typeface="Segoe UI"/>
              </a:rPr>
              <a:t>② Design Context Memory</a:t>
            </a:r>
          </a:p>
          <a:p>
            <a:pPr algn="l"/>
            <a:r>
              <a:rPr sz="1400" b="0">
                <a:solidFill>
                  <a:srgbClr val="57606A"/>
                </a:solidFill>
                <a:latin typeface="Segoe UI"/>
              </a:rPr>
              <a:t>A persistent memory of YOUR chip — specs, micro-arch, clocking, prior runs.</a:t>
            </a:r>
          </a:p>
          <a:p>
            <a:pPr algn="l"/>
            <a:r>
              <a:rPr sz="1400" b="1">
                <a:solidFill>
                  <a:srgbClr val="2DA44E"/>
                </a:solidFill>
                <a:latin typeface="Segoe UI"/>
              </a:rPr>
              <a:t>→ Feedback reflects your design intent, and improves each iteration.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371600"/>
            <a:ext cx="5212080" cy="3108960"/>
          </a:xfrm>
          <a:prstGeom prst="round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37960" y="1554480"/>
            <a:ext cx="4754880" cy="2834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8957E5"/>
                </a:solidFill>
                <a:latin typeface="Segoe UI"/>
              </a:rPr>
              <a:t>Built to run anywhere</a:t>
            </a:r>
          </a:p>
          <a:p>
            <a:pPr algn="l"/>
            <a:r>
              <a:rPr sz="1600" b="0">
                <a:solidFill>
                  <a:srgbClr val="1A1A1A"/>
                </a:solidFill>
                <a:latin typeface="Segoe UI"/>
              </a:rPr>
              <a:t>Python · multi-agent orchestration</a:t>
            </a:r>
          </a:p>
          <a:p>
            <a:pPr algn="l"/>
            <a:r>
              <a:rPr sz="1600" b="0">
                <a:solidFill>
                  <a:srgbClr val="1A1A1A"/>
                </a:solidFill>
                <a:latin typeface="Segoe UI"/>
              </a:rPr>
              <a:t>Azure OpenAI for reasoning</a:t>
            </a:r>
          </a:p>
          <a:p>
            <a:pPr algn="l"/>
            <a:r>
              <a:rPr sz="1600" b="0">
                <a:solidFill>
                  <a:srgbClr val="1A1A1A"/>
                </a:solidFill>
                <a:latin typeface="Segoe UI"/>
              </a:rPr>
              <a:t>Streamlit product dashboard</a:t>
            </a:r>
          </a:p>
          <a:p>
            <a:pPr algn="l"/>
            <a:r>
              <a:rPr sz="1600" b="1">
                <a:solidFill>
                  <a:srgbClr val="1A1A1A"/>
                </a:solidFill>
                <a:latin typeface="Segoe UI"/>
              </a:rPr>
              <a:t>Deterministic OFFLINE mode</a:t>
            </a:r>
          </a:p>
          <a:p>
            <a:pPr algn="l"/>
            <a:r>
              <a:rPr sz="1400" b="0">
                <a:solidFill>
                  <a:srgbClr val="57606A"/>
                </a:solidFill>
                <a:latin typeface="Segoe UI"/>
              </a:rPr>
              <a:t>Runs reliably with or without credentials — the demo never breaks.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0" y="0"/>
            <a:ext cx="12191695" cy="1051560"/>
          </a:xfrm>
          <a:prstGeom prst="roundRect">
            <a:avLst/>
          </a:prstGeom>
          <a:solidFill>
            <a:srgbClr val="895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Segoe UI"/>
              </a:rPr>
              <a:t>Why it wins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0" y="6473952"/>
            <a:ext cx="6519672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7606A"/>
                </a:solidFill>
                <a:latin typeface="Segoe UI"/>
              </a:rPr>
              <a:t>ClosureCopilot · Mayuresh Piske · © 2026 Microsoft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371600"/>
            <a:ext cx="10881360" cy="1828800"/>
          </a:xfrm>
          <a:prstGeom prst="roundRect">
            <a:avLst/>
          </a:prstGeom>
          <a:solidFill>
            <a:srgbClr val="EEE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54480"/>
            <a:ext cx="1033272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8957E5"/>
                </a:solidFill>
                <a:latin typeface="Segoe UI"/>
              </a:rPr>
              <a:t>Unique</a:t>
            </a:r>
          </a:p>
          <a:p>
            <a:pPr algn="l"/>
            <a:r>
              <a:rPr sz="1700" b="0">
                <a:solidFill>
                  <a:srgbClr val="1A1A1A"/>
                </a:solidFill>
                <a:latin typeface="Segoe UI"/>
              </a:rPr>
              <a:t>It combines fix-layer routing + IP→top constraint promotion + run-to-run regression</a:t>
            </a:r>
          </a:p>
          <a:p>
            <a:pPr algn="l"/>
            <a:r>
              <a:rPr sz="1700" b="0">
                <a:solidFill>
                  <a:srgbClr val="1A1A1A"/>
                </a:solidFill>
                <a:latin typeface="Segoe UI"/>
              </a:rPr>
              <a:t>attribution for the RTL owner — a combination no existing point tool brings together.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474720"/>
            <a:ext cx="10881360" cy="2377440"/>
          </a:xfrm>
          <a:prstGeom prst="roundRect">
            <a:avLst/>
          </a:prstGeom>
          <a:solidFill>
            <a:srgbClr val="E7F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657600"/>
            <a:ext cx="10332720" cy="2103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2DA44E"/>
                </a:solidFill>
                <a:latin typeface="Segoe UI"/>
              </a:rPr>
              <a:t>Impact</a:t>
            </a:r>
          </a:p>
          <a:p>
            <a:pPr algn="l"/>
            <a:r>
              <a:rPr sz="1700" b="0">
                <a:solidFill>
                  <a:srgbClr val="1A1A1A"/>
                </a:solidFill>
                <a:latin typeface="Segoe UI"/>
              </a:rPr>
              <a:t>Hours of manual, expert-only triage → minutes of ranked, grounded, copy-paste fixes.</a:t>
            </a:r>
          </a:p>
          <a:p>
            <a:pPr algn="l"/>
            <a:r>
              <a:rPr sz="1700" b="0">
                <a:solidFill>
                  <a:srgbClr val="1A1A1A"/>
                </a:solidFill>
                <a:latin typeface="Segoe UI"/>
              </a:rPr>
              <a:t>Puts senior-level closure judgment in every RTL designer's hands.</a:t>
            </a:r>
          </a:p>
          <a:p>
            <a:pPr algn="l"/>
            <a:r>
              <a:rPr sz="1700" b="0">
                <a:solidFill>
                  <a:srgbClr val="1A1A1A"/>
                </a:solidFill>
                <a:latin typeface="Segoe UI"/>
              </a:rPr>
              <a:t>Catches unrealized intent and lost constraints before the next costly backend run.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/>
          </a:prstGeom>
          <a:solidFill>
            <a:srgbClr val="0F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37744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>
                <a:solidFill>
                  <a:srgbClr val="FFFFFF"/>
                </a:solidFill>
                <a:latin typeface="Segoe UI"/>
              </a:rPr>
              <a:t>ClosureCopilot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356616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BFD4F2"/>
                </a:solidFill>
                <a:latin typeface="Segoe UI"/>
              </a:rPr>
              <a:t>Close faster. Fix smarter.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47548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9FB8E0"/>
                </a:solidFill>
                <a:latin typeface="Segoe UI"/>
              </a:rPr>
              <a:t>github.com/mayureshpiske19/ClosureCopilot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