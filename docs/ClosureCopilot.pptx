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4480560"/>
            <a:ext cx="12191695" cy="109728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A Multi-Agent Backend Closure Copilot for RTL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FB8E0"/>
                </a:solidFill>
                <a:latin typeface="Segoe UI"/>
              </a:rPr>
              <a:t>It decides WHERE each fix belongs — RTL  ·  SDC  ·  UPF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problem: PPA closure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2763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Power, Performance &amp; Area (PPA) closure is the biggest schedule risk in silicon.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7919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9631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Run backend tools → wait hours → face thousands of lines of reports.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30751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54787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The bottleneck is judgment, not reading:  is a timing violation a real RTL bug, or a missing constraint?  Is high clock power a hotspot, or unrealized UPF intent?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82312"/>
            <a:ext cx="146304" cy="146304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Segoe UI"/>
              </a:rPr>
              <a:t>That expertise lives only in senior engineers' heads — and doesn't scale.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copilot · 9 agents · any backend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1170432"/>
            <a:ext cx="756616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The core idea: Fix-Layer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Segoe UI"/>
              </a:rPr>
              <a:t>For every issue, it decides WHERE the fix belongs — RTL · SDC · UPF · synthesis-setup.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Example 1 — fix in SDC (not RTL)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Config path cfg_reg → status_reg fails setup.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quasi-static, sampled once per write.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set_multicycle_path -setup 2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94560"/>
            <a:ext cx="5303520" cy="21945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Example 2 — fix in RTL</a:t>
            </a:r>
          </a:p>
          <a:p>
            <a:pPr algn="l"/>
            <a:r>
              <a:rPr sz="1500" b="0">
                <a:solidFill>
                  <a:srgbClr val="1A1A1A"/>
                </a:solidFill>
                <a:latin typeface="Segoe UI"/>
              </a:rPr>
              <a:t>Deep combinational cone at alu.sv:210.</a:t>
            </a:r>
          </a:p>
          <a:p>
            <a:pPr algn="l"/>
            <a:r>
              <a:rPr sz="1500" b="0">
                <a:solidFill>
                  <a:srgbClr val="57606A"/>
                </a:solidFill>
                <a:latin typeface="Segoe UI"/>
              </a:rPr>
              <a:t>Diagnosis: genuine logic depth, single cycle.</a:t>
            </a:r>
          </a:p>
          <a:p>
            <a:pPr algn="l"/>
            <a:r>
              <a:rPr sz="1500" b="1">
                <a:solidFill>
                  <a:srgbClr val="2DA44E"/>
                </a:solidFill>
                <a:latin typeface="Segoe UI"/>
              </a:rPr>
              <a:t>→ pipeline the datapath  (timing ✓, area +2%)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Segoe UI"/>
              </a:rPr>
              <a:t>Every fix ships with a corrected, copy-paste snippet + a cross-domain PPA trade-off.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Five capabilities, one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64592" cy="8686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Segoe UI"/>
              </a:rPr>
              <a:t>PPA Analyzer  —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73936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Ranks issues and routes each fix to RTL / SDC / UPF with a snippet + trade-off.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59152"/>
            <a:ext cx="164592" cy="86868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359152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432304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957E5"/>
                </a:solidFill>
                <a:latin typeface="Segoe UI"/>
              </a:rPr>
              <a:t>Constraint Promotion  —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61488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Reconciles IP → top constraints; generates corrected top-level SDC.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46704"/>
            <a:ext cx="164592" cy="868680"/>
          </a:xfrm>
          <a:prstGeom prst="roundRect">
            <a:avLst/>
          </a:prstGeom>
          <a:solidFill>
            <a:srgbClr val="C88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346704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19856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8860A"/>
                </a:solidFill>
                <a:latin typeface="Segoe UI"/>
              </a:rPr>
              <a:t>UPF Signoff  —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4904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Checks isolation, retention &amp; clock-gating intent; emits corrected UPF.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34256"/>
            <a:ext cx="164592" cy="868680"/>
          </a:xfrm>
          <a:prstGeom prst="roundRect">
            <a:avLst/>
          </a:prstGeom>
          <a:solidFill>
            <a:srgbClr val="E548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34256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07408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5484D"/>
                </a:solidFill>
                <a:latin typeface="Segoe UI"/>
              </a:rPr>
              <a:t>Regression Detective  —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736592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Compares two runs; finds what regressed and the change behind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21808"/>
            <a:ext cx="164592" cy="868680"/>
          </a:xfrm>
          <a:prstGeom prst="roundRect">
            <a:avLst/>
          </a:prstGeom>
          <a:solidFill>
            <a:srgbClr val="2DA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5321808"/>
            <a:ext cx="10607040" cy="86868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394960"/>
            <a:ext cx="10241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DA44E"/>
                </a:solidFill>
                <a:latin typeface="Segoe UI"/>
              </a:rPr>
              <a:t>Formal Equivalence (LEC)  —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724144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  <a:latin typeface="Segoe UI"/>
              </a:rPr>
              <a:t>Routes LEC non-equivalence to a Formal-setup fix vs a genuine RTL 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Grounded — and always-on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9496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554480"/>
            <a:ext cx="49377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Segoe UI"/>
              </a:rPr>
              <a:t>Dual-RAG knowledge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① Global PPA knowledge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Low-power / timing / area methodology, tool-report semantics, fix patterns.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② Design Context Memory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A persistent memory of YOUR chip — specs, micro-arch, clocking, prior runs.</a:t>
            </a:r>
          </a:p>
          <a:p>
            <a:pPr algn="l"/>
            <a:r>
              <a:rPr sz="1400" b="1">
                <a:solidFill>
                  <a:srgbClr val="2DA44E"/>
                </a:solidFill>
                <a:latin typeface="Segoe UI"/>
              </a:rPr>
              <a:t>→ Feedback reflects your design intent, and improves each iteration.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3108960"/>
          </a:xfrm>
          <a:prstGeom prst="round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54480"/>
            <a:ext cx="47548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Built to run anywhere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Python · multi-agent orchestration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Azure OpenAI for reasoning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Segoe UI"/>
              </a:rPr>
              <a:t>Streamlit product dashboard</a:t>
            </a:r>
          </a:p>
          <a:p>
            <a:pPr algn="l"/>
            <a:r>
              <a:rPr sz="1600" b="1">
                <a:solidFill>
                  <a:srgbClr val="1A1A1A"/>
                </a:solidFill>
                <a:latin typeface="Segoe UI"/>
              </a:rPr>
              <a:t>Deterministic OFFLINE mode</a:t>
            </a:r>
          </a:p>
          <a:p>
            <a:pPr algn="l"/>
            <a:r>
              <a:rPr sz="1400" b="0">
                <a:solidFill>
                  <a:srgbClr val="57606A"/>
                </a:solidFill>
                <a:latin typeface="Segoe UI"/>
              </a:rPr>
              <a:t>Runs reliably with or without credentials — the demo never breaks.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895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Why it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6473952"/>
            <a:ext cx="651967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7606A"/>
                </a:solidFill>
                <a:latin typeface="Segoe UI"/>
              </a:rPr>
              <a:t>ClosureCopilot · Mayuresh Piske · © 2026 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881360" cy="1828800"/>
          </a:xfrm>
          <a:prstGeom prst="roundRect">
            <a:avLst/>
          </a:prstGeom>
          <a:solidFill>
            <a:srgbClr val="EEE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957E5"/>
                </a:solidFill>
                <a:latin typeface="Segoe UI"/>
              </a:rPr>
              <a:t>Unique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It combines fix-layer routing + IP→top constraint promotion + run-to-run regression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attribution for the RTL owner — a combination no existing point tool brings together.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881360" cy="2377440"/>
          </a:xfrm>
          <a:prstGeom prst="roundRect">
            <a:avLst/>
          </a:prstGeom>
          <a:solidFill>
            <a:srgbClr val="E7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327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DA44E"/>
                </a:solidFill>
                <a:latin typeface="Segoe UI"/>
              </a:rPr>
              <a:t>Impact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Hours of manual, expert-only triage → minutes of ranked, grounded, copy-paste fixes.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Puts senior-level closure judgment in every RTL designer's hands.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Segoe UI"/>
              </a:rPr>
              <a:t>Catches unrealized intent and lost constraints before the next costly backend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Segoe UI"/>
              </a:rPr>
              <a:t>ClosureCopilot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BFD4F2"/>
                </a:solidFill>
                <a:latin typeface="Segoe UI"/>
              </a:rPr>
              <a:t>Close faster. Fix smarter.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FB8E0"/>
                </a:solidFill>
                <a:latin typeface="Segoe UI"/>
              </a:rPr>
              <a:t>github.com/mayureshpiske19/ClosureCopilot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